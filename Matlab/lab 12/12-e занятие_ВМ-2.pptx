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486" r:id="rId2"/>
    <p:sldId id="576" r:id="rId3"/>
    <p:sldId id="579" r:id="rId4"/>
    <p:sldId id="580" r:id="rId5"/>
    <p:sldId id="581" r:id="rId6"/>
    <p:sldId id="582" r:id="rId7"/>
    <p:sldId id="583" r:id="rId8"/>
    <p:sldId id="584" r:id="rId9"/>
    <p:sldId id="585" r:id="rId10"/>
    <p:sldId id="586" r:id="rId11"/>
    <p:sldId id="587" r:id="rId12"/>
    <p:sldId id="588" r:id="rId13"/>
    <p:sldId id="589" r:id="rId14"/>
    <p:sldId id="590" r:id="rId15"/>
    <p:sldId id="625" r:id="rId16"/>
    <p:sldId id="592" r:id="rId17"/>
    <p:sldId id="593" r:id="rId18"/>
    <p:sldId id="594" r:id="rId19"/>
    <p:sldId id="595" r:id="rId20"/>
    <p:sldId id="578" r:id="rId21"/>
    <p:sldId id="577" r:id="rId22"/>
    <p:sldId id="622" r:id="rId23"/>
    <p:sldId id="623" r:id="rId24"/>
    <p:sldId id="624" r:id="rId25"/>
    <p:sldId id="599" r:id="rId26"/>
    <p:sldId id="600" r:id="rId27"/>
    <p:sldId id="601" r:id="rId28"/>
    <p:sldId id="602" r:id="rId29"/>
    <p:sldId id="603" r:id="rId30"/>
    <p:sldId id="604" r:id="rId31"/>
    <p:sldId id="605" r:id="rId32"/>
    <p:sldId id="606" r:id="rId33"/>
    <p:sldId id="607" r:id="rId34"/>
    <p:sldId id="608" r:id="rId35"/>
    <p:sldId id="609" r:id="rId36"/>
    <p:sldId id="610" r:id="rId37"/>
    <p:sldId id="598" r:id="rId38"/>
    <p:sldId id="613" r:id="rId39"/>
    <p:sldId id="612" r:id="rId40"/>
    <p:sldId id="618" r:id="rId41"/>
    <p:sldId id="620" r:id="rId42"/>
    <p:sldId id="611" r:id="rId43"/>
    <p:sldId id="621" r:id="rId44"/>
    <p:sldId id="560" r:id="rId45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E0FFD1"/>
    <a:srgbClr val="D0FFB9"/>
    <a:srgbClr val="BCFF9B"/>
    <a:srgbClr val="FFFFFF"/>
    <a:srgbClr val="99FF66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8898" autoAdjust="0"/>
    <p:restoredTop sz="95367" autoAdjust="0"/>
  </p:normalViewPr>
  <p:slideViewPr>
    <p:cSldViewPr>
      <p:cViewPr varScale="1">
        <p:scale>
          <a:sx n="93" d="100"/>
          <a:sy n="93" d="100"/>
        </p:scale>
        <p:origin x="53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3ADEFFE-0BB4-4068-96C3-CC03F876139B}" type="datetimeFigureOut">
              <a:rPr lang="ru-RU"/>
              <a:pPr>
                <a:defRPr/>
              </a:pPr>
              <a:t>01.05.2023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B5B8448-F7FD-42CA-8239-B3D1949BCE0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CB43E-24E0-417B-9F3D-2C3E749D3A5F}" type="datetimeFigureOut">
              <a:rPr lang="ru-RU"/>
              <a:pPr>
                <a:defRPr/>
              </a:pPr>
              <a:t>01.05.2023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6CA8C-F6F7-4DED-A234-EAB9D1B009A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D3177-E0D5-44F5-9EC2-2E92F8DB9960}" type="datetimeFigureOut">
              <a:rPr lang="ru-RU"/>
              <a:pPr>
                <a:defRPr/>
              </a:pPr>
              <a:t>01.05.2023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3B442B-F1C9-47B7-8C94-739287760EA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19EBA-BC07-4BF3-91AE-43023425E5A0}" type="datetimeFigureOut">
              <a:rPr lang="ru-RU"/>
              <a:pPr>
                <a:defRPr/>
              </a:pPr>
              <a:t>01.05.2023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FC301F-89B5-4C42-8A38-ABB6A48FF73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833E55-42F4-4D17-A38E-AD34B97DCB2A}" type="datetimeFigureOut">
              <a:rPr lang="ru-RU"/>
              <a:pPr>
                <a:defRPr/>
              </a:pPr>
              <a:t>01.05.2023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AB7795-A20D-45DF-9944-FBFB8D3CB4F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CC7DE5-E9D2-477A-B80E-E681667B7E50}" type="datetimeFigureOut">
              <a:rPr lang="ru-RU"/>
              <a:pPr>
                <a:defRPr/>
              </a:pPr>
              <a:t>01.05.2023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48406-C955-4BF8-A7FC-33DA477F26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31C91-D8EC-4926-B576-DDAD6C3883B5}" type="datetimeFigureOut">
              <a:rPr lang="ru-RU"/>
              <a:pPr>
                <a:defRPr/>
              </a:pPr>
              <a:t>01.05.2023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668352-07E2-4E12-8BA5-8952A1230DC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22EAE-3151-4BA1-AAC1-874D7E1BA72F}" type="datetimeFigureOut">
              <a:rPr lang="ru-RU"/>
              <a:pPr>
                <a:defRPr/>
              </a:pPr>
              <a:t>01.05.2023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EDEF5-7298-42F9-9289-A6F042D0D53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C1E3F-4FF7-48FA-BFC1-05A8D026E5DE}" type="datetimeFigureOut">
              <a:rPr lang="ru-RU"/>
              <a:pPr>
                <a:defRPr/>
              </a:pPr>
              <a:t>01.05.2023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21F5C-A857-4898-A8ED-D9FBAC61A44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108738-11D8-42E1-9AC9-983C22410DAB}" type="datetimeFigureOut">
              <a:rPr lang="ru-RU"/>
              <a:pPr>
                <a:defRPr/>
              </a:pPr>
              <a:t>01.05.2023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F95F3A-9B49-4526-BA52-D491D27344A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D4BE1-3A01-4D36-8980-EA57F08BB0E1}" type="datetimeFigureOut">
              <a:rPr lang="ru-RU"/>
              <a:pPr>
                <a:defRPr/>
              </a:pPr>
              <a:t>01.05.2023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C32C4-083B-44A4-8DD6-D28102434C5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1F16D6-C147-4863-91C4-E112A5342B48}" type="datetimeFigureOut">
              <a:rPr lang="ru-RU"/>
              <a:pPr>
                <a:defRPr/>
              </a:pPr>
              <a:t>01.05.2023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3A4E11-07E4-427B-990B-4FA0420F61F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1EFDA-5EB0-485A-8C78-AF6833038399}" type="datetimeFigureOut">
              <a:rPr lang="ru-RU"/>
              <a:pPr>
                <a:defRPr/>
              </a:pPr>
              <a:t>01.05.2023</a:t>
            </a:fld>
            <a:endParaRPr lang="ru-RU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51EA3-3DA3-4D20-B9CE-372889A0C00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E0FFD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FA33186-3A31-4331-A73E-E0E76132B2FF}" type="datetimeFigureOut">
              <a:rPr lang="ru-RU"/>
              <a:pPr>
                <a:defRPr/>
              </a:pPr>
              <a:t>01.05.2023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80425F2-547E-4D97-90BE-308487B9D08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85750" y="142875"/>
            <a:ext cx="8485188" cy="6634163"/>
          </a:xfrm>
          <a:noFill/>
        </p:spPr>
      </p:pic>
      <p:pic>
        <p:nvPicPr>
          <p:cNvPr id="2051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79838" y="4941888"/>
            <a:ext cx="633412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24300" y="4941888"/>
            <a:ext cx="112713" cy="15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3" name="TextBox 4"/>
          <p:cNvSpPr txBox="1">
            <a:spLocks noChangeArrowheads="1"/>
          </p:cNvSpPr>
          <p:nvPr/>
        </p:nvSpPr>
        <p:spPr bwMode="auto">
          <a:xfrm>
            <a:off x="4716463" y="5661025"/>
            <a:ext cx="1947862" cy="3381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/>
              <a:t>тогда</a:t>
            </a:r>
            <a:r>
              <a:rPr lang="ru-RU" sz="1600" i="1"/>
              <a:t>  </a:t>
            </a:r>
            <a:r>
              <a:rPr lang="en-US" sz="1600" i="1"/>
              <a:t>y</a:t>
            </a:r>
            <a:r>
              <a:rPr lang="en-US" sz="1600" i="1" baseline="-25000"/>
              <a:t>1</a:t>
            </a:r>
            <a:r>
              <a:rPr lang="en-US" sz="1600" i="1"/>
              <a:t>’’(x)= y</a:t>
            </a:r>
            <a:r>
              <a:rPr lang="en-US" sz="1600" i="1" baseline="-25000"/>
              <a:t>2</a:t>
            </a:r>
            <a:r>
              <a:rPr lang="en-US" sz="1600" i="1"/>
              <a:t>’(x)</a:t>
            </a:r>
            <a:endParaRPr lang="ru-RU" sz="1600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85750" y="125413"/>
            <a:ext cx="8715375" cy="6711950"/>
          </a:xfr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2875" y="214313"/>
            <a:ext cx="8921750" cy="6597650"/>
          </a:xfr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88900" y="692150"/>
            <a:ext cx="9055100" cy="5024438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28625" y="-46038"/>
            <a:ext cx="8429625" cy="6904038"/>
          </a:xfr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2875" y="285750"/>
            <a:ext cx="8890000" cy="6194425"/>
          </a:xfr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42938" y="133350"/>
            <a:ext cx="8001000" cy="6684963"/>
          </a:xfr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7504" y="1107281"/>
            <a:ext cx="8856663" cy="4929187"/>
          </a:xfrm>
          <a:noFill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1688" y="1785938"/>
            <a:ext cx="71437" cy="233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313" y="3643313"/>
            <a:ext cx="1666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29313" y="2571750"/>
            <a:ext cx="1301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0688" y="2571750"/>
            <a:ext cx="25082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3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4625" y="2571750"/>
            <a:ext cx="1301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4500" y="2571750"/>
            <a:ext cx="1301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813" y="2071688"/>
            <a:ext cx="1301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7188" y="2143125"/>
            <a:ext cx="25082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1563" y="3643313"/>
            <a:ext cx="214312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57938" y="2500313"/>
            <a:ext cx="16668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071688"/>
            <a:ext cx="16668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30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57875" y="5429250"/>
            <a:ext cx="1793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31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3188" y="3286125"/>
            <a:ext cx="128587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7800" y="571500"/>
            <a:ext cx="8788400" cy="5929313"/>
          </a:xfrm>
          <a:noFill/>
        </p:spPr>
      </p:pic>
      <p:pic>
        <p:nvPicPr>
          <p:cNvPr id="1024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1563" y="2928938"/>
            <a:ext cx="141287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0125" y="2928938"/>
            <a:ext cx="142875" cy="11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5088" y="1143000"/>
            <a:ext cx="9013825" cy="4786313"/>
          </a:xfr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928688" y="77788"/>
            <a:ext cx="7429500" cy="6786562"/>
          </a:xfr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85750" y="80963"/>
            <a:ext cx="8583613" cy="6777037"/>
          </a:xfr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2875" y="388938"/>
            <a:ext cx="9001125" cy="6196012"/>
          </a:xfr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2875" y="285750"/>
            <a:ext cx="8893175" cy="6475413"/>
          </a:xfr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11188" y="476250"/>
            <a:ext cx="8043862" cy="5870575"/>
          </a:xfrm>
          <a:noFill/>
        </p:spPr>
      </p:pic>
      <p:pic>
        <p:nvPicPr>
          <p:cNvPr id="1638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0113" y="3284538"/>
            <a:ext cx="3286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650" y="4508500"/>
            <a:ext cx="485775" cy="31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0" y="928688"/>
            <a:ext cx="9144000" cy="5214937"/>
          </a:xfr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113" y="928688"/>
            <a:ext cx="9121775" cy="3214687"/>
          </a:xfr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857250" y="142875"/>
            <a:ext cx="7613650" cy="6626225"/>
          </a:xfr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2875" y="500063"/>
            <a:ext cx="9001125" cy="6040437"/>
          </a:xfr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42938" y="147638"/>
            <a:ext cx="8072437" cy="6602412"/>
          </a:xfrm>
          <a:noFill/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3713" y="3141663"/>
            <a:ext cx="742950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8" name="TextBox 3"/>
          <p:cNvSpPr txBox="1">
            <a:spLocks noChangeArrowheads="1"/>
          </p:cNvSpPr>
          <p:nvPr/>
        </p:nvSpPr>
        <p:spPr bwMode="auto">
          <a:xfrm>
            <a:off x="8893175" y="4797425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68313" y="765175"/>
            <a:ext cx="8229600" cy="1381125"/>
          </a:xfr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7800" y="642938"/>
            <a:ext cx="8966200" cy="5092700"/>
          </a:xfr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Содержимое 5"/>
          <p:cNvSpPr>
            <a:spLocks noGrp="1"/>
          </p:cNvSpPr>
          <p:nvPr>
            <p:ph idx="1"/>
          </p:nvPr>
        </p:nvSpPr>
        <p:spPr>
          <a:xfrm>
            <a:off x="142875" y="1600200"/>
            <a:ext cx="8543925" cy="4525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ru-RU" sz="2000" b="1" smtClean="0"/>
              <a:t>Рис.</a:t>
            </a:r>
            <a:r>
              <a:rPr lang="en-US" sz="2000" b="1" smtClean="0"/>
              <a:t>6’</a:t>
            </a:r>
            <a:r>
              <a:rPr lang="ru-RU" sz="2000" b="1" smtClean="0"/>
              <a:t>. </a:t>
            </a:r>
            <a:r>
              <a:rPr lang="ru-RU" sz="2000" smtClean="0"/>
              <a:t>Блок-схема </a:t>
            </a:r>
          </a:p>
          <a:p>
            <a:pPr>
              <a:buFont typeface="Arial" charset="0"/>
              <a:buNone/>
            </a:pPr>
            <a:r>
              <a:rPr lang="ru-RU" sz="2000" smtClean="0"/>
              <a:t>метода Эйлера-Коши </a:t>
            </a:r>
          </a:p>
          <a:p>
            <a:pPr>
              <a:buFont typeface="Arial" charset="0"/>
              <a:buNone/>
            </a:pPr>
            <a:r>
              <a:rPr lang="ru-RU" sz="2000" smtClean="0"/>
              <a:t>с уточнением</a:t>
            </a:r>
          </a:p>
        </p:txBody>
      </p:sp>
      <p:pic>
        <p:nvPicPr>
          <p:cNvPr id="24579" name="Содержимое 4" descr="image002"/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00375" y="142875"/>
            <a:ext cx="5929313" cy="671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72125" y="4572000"/>
            <a:ext cx="185738" cy="29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72125" y="4572000"/>
            <a:ext cx="142875" cy="13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68313" y="549275"/>
            <a:ext cx="8318500" cy="4464050"/>
          </a:xfrm>
          <a:noFill/>
        </p:spPr>
      </p:pic>
      <p:sp>
        <p:nvSpPr>
          <p:cNvPr id="25605" name="TextBox 4"/>
          <p:cNvSpPr txBox="1">
            <a:spLocks noChangeArrowheads="1"/>
          </p:cNvSpPr>
          <p:nvPr/>
        </p:nvSpPr>
        <p:spPr bwMode="auto">
          <a:xfrm>
            <a:off x="5364163" y="2997200"/>
            <a:ext cx="792162" cy="3381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i="1">
                <a:solidFill>
                  <a:srgbClr val="C00000"/>
                </a:solidFill>
              </a:rPr>
              <a:t>y</a:t>
            </a:r>
            <a:r>
              <a:rPr lang="en-US" sz="1600" i="1" baseline="30000">
                <a:solidFill>
                  <a:srgbClr val="C00000"/>
                </a:solidFill>
              </a:rPr>
              <a:t>(3)</a:t>
            </a:r>
            <a:r>
              <a:rPr lang="en-US" sz="1600" i="1">
                <a:solidFill>
                  <a:srgbClr val="C00000"/>
                </a:solidFill>
              </a:rPr>
              <a:t> (x</a:t>
            </a:r>
            <a:r>
              <a:rPr lang="en-US" sz="1600" i="1" baseline="-25000">
                <a:solidFill>
                  <a:srgbClr val="C00000"/>
                </a:solidFill>
              </a:rPr>
              <a:t>i</a:t>
            </a:r>
            <a:r>
              <a:rPr lang="en-US" sz="1600" i="1">
                <a:solidFill>
                  <a:srgbClr val="C00000"/>
                </a:solidFill>
              </a:rPr>
              <a:t>)</a:t>
            </a:r>
            <a:endParaRPr lang="ru-RU" sz="1600" i="1" baseline="300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85750" y="93663"/>
            <a:ext cx="8715375" cy="6773862"/>
          </a:xfrm>
          <a:noFill/>
        </p:spPr>
      </p:pic>
      <p:sp>
        <p:nvSpPr>
          <p:cNvPr id="26627" name="TextBox 2"/>
          <p:cNvSpPr txBox="1">
            <a:spLocks noChangeArrowheads="1"/>
          </p:cNvSpPr>
          <p:nvPr/>
        </p:nvSpPr>
        <p:spPr bwMode="auto">
          <a:xfrm>
            <a:off x="1116013" y="2133600"/>
            <a:ext cx="404812" cy="368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rgbClr val="C00000"/>
                </a:solidFill>
              </a:rPr>
              <a:t>y</a:t>
            </a:r>
            <a:r>
              <a:rPr lang="en-US" i="1" baseline="-25000">
                <a:solidFill>
                  <a:srgbClr val="C00000"/>
                </a:solidFill>
              </a:rPr>
              <a:t>i</a:t>
            </a:r>
            <a:endParaRPr lang="ru-RU" i="1" baseline="-250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714375" y="19050"/>
            <a:ext cx="7929563" cy="6848475"/>
          </a:xfrm>
          <a:noFill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9613" y="3068638"/>
            <a:ext cx="742950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2875" y="357188"/>
            <a:ext cx="8818563" cy="6099175"/>
          </a:xfr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71500" y="33338"/>
            <a:ext cx="8286750" cy="6772275"/>
          </a:xfr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14313" y="357188"/>
            <a:ext cx="8813800" cy="6288087"/>
          </a:xfr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85750" y="214313"/>
            <a:ext cx="8572500" cy="6440487"/>
          </a:xfr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2875" y="285750"/>
            <a:ext cx="8948738" cy="6435725"/>
          </a:xfr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2875" y="500063"/>
            <a:ext cx="8858250" cy="5856287"/>
          </a:xfr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2875" y="785813"/>
            <a:ext cx="8809038" cy="5000625"/>
          </a:xfr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14313" y="857250"/>
            <a:ext cx="8634412" cy="4357688"/>
          </a:xfr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722313" y="206375"/>
            <a:ext cx="7707312" cy="6651625"/>
          </a:xfr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2875" y="642938"/>
            <a:ext cx="8858250" cy="4710112"/>
          </a:xfr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2875" y="714375"/>
            <a:ext cx="8831263" cy="4865688"/>
          </a:xfr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214313" y="142875"/>
            <a:ext cx="8715375" cy="6429375"/>
          </a:xfrm>
        </p:spPr>
        <p:txBody>
          <a:bodyPr/>
          <a:lstStyle/>
          <a:p>
            <a:pPr algn="ctr">
              <a:buFont typeface="Arial" charset="0"/>
              <a:buNone/>
              <a:defRPr/>
            </a:pPr>
            <a:r>
              <a:rPr lang="ru-RU" sz="2800" b="1" dirty="0" smtClean="0"/>
              <a:t>Решение дифференциальных уравнений в </a:t>
            </a:r>
            <a:r>
              <a:rPr lang="en-US" sz="2800" b="1" dirty="0" smtClean="0"/>
              <a:t>MATLAB</a:t>
            </a:r>
            <a:endParaRPr lang="ru-RU" sz="2800" b="1" dirty="0" smtClean="0"/>
          </a:p>
          <a:p>
            <a:pPr marL="0" indent="361950">
              <a:buFont typeface="Arial" charset="0"/>
              <a:buNone/>
              <a:defRPr/>
            </a:pPr>
            <a:r>
              <a:rPr lang="ru-RU" sz="2400" dirty="0" smtClean="0"/>
              <a:t>Для решения дифференциальных уравнений и систем в</a:t>
            </a:r>
            <a:r>
              <a:rPr lang="en-US" sz="2400" dirty="0" smtClean="0"/>
              <a:t> MATLAB </a:t>
            </a:r>
            <a:r>
              <a:rPr lang="ru-RU" sz="2400" dirty="0" smtClean="0"/>
              <a:t>предусмотрены следующие функции</a:t>
            </a:r>
            <a:r>
              <a:rPr lang="en-US" sz="2400" dirty="0" smtClean="0"/>
              <a:t> </a:t>
            </a:r>
            <a:r>
              <a:rPr lang="en-US" sz="2400" b="1" dirty="0" smtClean="0"/>
              <a:t>ode45(f, interval, X0 [, options]), ode23(f, interval, X0 [, options]), ode113(f, interval, X0 [, options]), ode</a:t>
            </a:r>
            <a:r>
              <a:rPr lang="ru-RU" sz="2400" b="1" dirty="0" smtClean="0"/>
              <a:t>1</a:t>
            </a:r>
            <a:r>
              <a:rPr lang="en-US" sz="2400" b="1" dirty="0" smtClean="0"/>
              <a:t>5s(f, interval, X0 [, options]), ode23s(f, interval, X0 [, options]), ode23t (f, interval, X0 [,options]) </a:t>
            </a:r>
            <a:r>
              <a:rPr lang="ru-RU" sz="2400" b="1" dirty="0" smtClean="0"/>
              <a:t>и</a:t>
            </a:r>
            <a:r>
              <a:rPr lang="en-US" sz="2400" b="1" dirty="0" smtClean="0"/>
              <a:t> ode23tb(f, interval, X0 [, options]).</a:t>
            </a:r>
            <a:endParaRPr lang="ru-RU" sz="2400" b="1" dirty="0" smtClean="0"/>
          </a:p>
          <a:p>
            <a:pPr marL="0" indent="361950">
              <a:buFont typeface="Arial" charset="0"/>
              <a:buNone/>
              <a:defRPr/>
            </a:pPr>
            <a:r>
              <a:rPr lang="ru-RU" sz="2400" dirty="0" smtClean="0"/>
              <a:t>Входными параметрами этих функций являются:</a:t>
            </a:r>
          </a:p>
          <a:p>
            <a:pPr marL="0" indent="361950">
              <a:buFont typeface="Arial" charset="0"/>
              <a:buNone/>
              <a:defRPr/>
            </a:pPr>
            <a:r>
              <a:rPr lang="ru-RU" sz="2400" b="1" dirty="0" smtClean="0"/>
              <a:t>f</a:t>
            </a:r>
            <a:r>
              <a:rPr lang="ru-RU" sz="2400" dirty="0" smtClean="0"/>
              <a:t> - вектор-функция для вычисления правой части уравнения системы уравнений;</a:t>
            </a:r>
          </a:p>
          <a:p>
            <a:pPr marL="0" indent="361950">
              <a:buFont typeface="Arial" charset="0"/>
              <a:buNone/>
              <a:defRPr/>
            </a:pPr>
            <a:r>
              <a:rPr lang="ru-RU" sz="2400" b="1" dirty="0" smtClean="0"/>
              <a:t>interval</a:t>
            </a:r>
            <a:r>
              <a:rPr lang="ru-RU" sz="2400" dirty="0" smtClean="0"/>
              <a:t> - массив из двух чисел, определяющий интервал интегрирования дифференциального уравнения или системы;</a:t>
            </a:r>
          </a:p>
          <a:p>
            <a:pPr marL="0" indent="361950">
              <a:buFont typeface="Arial" charset="0"/>
              <a:buNone/>
              <a:defRPr/>
            </a:pPr>
            <a:r>
              <a:rPr lang="ru-RU" sz="2400" b="1" dirty="0" smtClean="0"/>
              <a:t>Х0</a:t>
            </a:r>
            <a:r>
              <a:rPr lang="ru-RU" sz="2400" dirty="0" smtClean="0"/>
              <a:t> - вектор начальных условий системы дифференциальных уравнений;</a:t>
            </a:r>
          </a:p>
          <a:p>
            <a:pPr marL="0" indent="361950">
              <a:buFont typeface="Arial" charset="0"/>
              <a:buNone/>
              <a:defRPr/>
            </a:pPr>
            <a:r>
              <a:rPr lang="ru-RU" sz="2400" b="1" dirty="0" smtClean="0"/>
              <a:t>options</a:t>
            </a:r>
            <a:r>
              <a:rPr lang="ru-RU" sz="2400" dirty="0" smtClean="0"/>
              <a:t> - параметры управления ходом решения дифференциального уравнения или системы.</a:t>
            </a:r>
          </a:p>
          <a:p>
            <a:pPr algn="ctr">
              <a:buFont typeface="Arial" charset="0"/>
              <a:buNone/>
              <a:defRPr/>
            </a:pPr>
            <a:endParaRPr lang="ru-RU" sz="2800" b="1" dirty="0" smtClean="0"/>
          </a:p>
          <a:p>
            <a:pPr>
              <a:buFont typeface="Arial" charset="0"/>
              <a:buNone/>
              <a:defRPr/>
            </a:pPr>
            <a:endParaRPr lang="ru-R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Содержимое 2"/>
          <p:cNvSpPr>
            <a:spLocks noGrp="1"/>
          </p:cNvSpPr>
          <p:nvPr>
            <p:ph idx="1"/>
          </p:nvPr>
        </p:nvSpPr>
        <p:spPr>
          <a:xfrm>
            <a:off x="457200" y="214313"/>
            <a:ext cx="8229600" cy="6357937"/>
          </a:xfrm>
        </p:spPr>
        <p:txBody>
          <a:bodyPr/>
          <a:lstStyle/>
          <a:p>
            <a:pPr marL="0" indent="361950">
              <a:buFont typeface="Arial" charset="0"/>
              <a:buNone/>
            </a:pPr>
            <a:r>
              <a:rPr lang="ru-RU" sz="2400" smtClean="0"/>
              <a:t>Все функции возвращают:</a:t>
            </a:r>
          </a:p>
          <a:p>
            <a:pPr marL="0" indent="361950">
              <a:buFont typeface="Arial" charset="0"/>
              <a:buNone/>
            </a:pPr>
            <a:r>
              <a:rPr lang="ru-RU" sz="2400" smtClean="0"/>
              <a:t>массив Т - координаты узлов сетки, в которых ищется решение;</a:t>
            </a:r>
          </a:p>
          <a:p>
            <a:pPr marL="0" indent="361950">
              <a:buFont typeface="Arial" charset="0"/>
              <a:buNone/>
            </a:pPr>
            <a:r>
              <a:rPr lang="ru-RU" sz="2400" smtClean="0"/>
              <a:t>матрицу X, i-й столбец которой является значением вектор-функции решения в узле Т</a:t>
            </a:r>
            <a:r>
              <a:rPr lang="ru-RU" sz="2400" baseline="-25000" smtClean="0"/>
              <a:t>i</a:t>
            </a:r>
            <a:r>
              <a:rPr lang="ru-RU" sz="2400" smtClean="0"/>
              <a:t>.</a:t>
            </a:r>
            <a:endParaRPr lang="ru-RU" sz="2400" baseline="-25000" smtClean="0"/>
          </a:p>
          <a:p>
            <a:pPr marL="0" indent="361950">
              <a:buFont typeface="Arial" charset="0"/>
              <a:buNone/>
            </a:pPr>
            <a:r>
              <a:rPr lang="ru-RU" sz="2400" smtClean="0"/>
              <a:t>В функции </a:t>
            </a:r>
            <a:r>
              <a:rPr lang="ru-RU" sz="2400" b="1" smtClean="0"/>
              <a:t>ode45</a:t>
            </a:r>
            <a:r>
              <a:rPr lang="ru-RU" sz="2400" smtClean="0"/>
              <a:t> реализован метод Рунге-Кутта 4-5 порядка точности, в функции </a:t>
            </a:r>
            <a:r>
              <a:rPr lang="ru-RU" sz="2400" b="1" smtClean="0"/>
              <a:t>ode23</a:t>
            </a:r>
            <a:r>
              <a:rPr lang="ru-RU" sz="2400" smtClean="0"/>
              <a:t> также реализован метод Рунге-Кутта, но 2-3 порядка, а функция </a:t>
            </a:r>
            <a:r>
              <a:rPr lang="ru-RU" sz="2400" b="1" smtClean="0"/>
              <a:t>ode113</a:t>
            </a:r>
            <a:r>
              <a:rPr lang="ru-RU" sz="2400" smtClean="0"/>
              <a:t> реализует метод Адамса. </a:t>
            </a:r>
          </a:p>
          <a:p>
            <a:pPr marL="0" indent="361950">
              <a:buFont typeface="Arial" charset="0"/>
              <a:buNone/>
            </a:pPr>
            <a:r>
              <a:rPr lang="ru-RU" sz="2400" smtClean="0"/>
              <a:t>Для решения жёстких систем предназначены функция </a:t>
            </a:r>
            <a:r>
              <a:rPr lang="en-US" sz="2400" b="1" smtClean="0"/>
              <a:t>ode</a:t>
            </a:r>
            <a:r>
              <a:rPr lang="ru-RU" sz="2400" b="1" smtClean="0"/>
              <a:t>1</a:t>
            </a:r>
            <a:r>
              <a:rPr lang="en-US" sz="2400" b="1" smtClean="0"/>
              <a:t>5s</a:t>
            </a:r>
            <a:r>
              <a:rPr lang="ru-RU" sz="2400" smtClean="0"/>
              <a:t>, в которой реализован метод Гира, и функция </a:t>
            </a:r>
            <a:r>
              <a:rPr lang="en-US" sz="2400" b="1" smtClean="0"/>
              <a:t>ode23s</a:t>
            </a:r>
            <a:r>
              <a:rPr lang="ru-RU" sz="2400" smtClean="0"/>
              <a:t>, реализующая метод Розенброка.</a:t>
            </a:r>
            <a:r>
              <a:rPr lang="ru-RU" sz="2400" b="1" smtClean="0"/>
              <a:t> </a:t>
            </a:r>
            <a:r>
              <a:rPr lang="ru-RU" sz="2400" smtClean="0"/>
              <a:t>Для получения более точного решения жёсткой системы лучше использовать функцию </a:t>
            </a:r>
            <a:r>
              <a:rPr lang="en-US" sz="2400" b="1" smtClean="0"/>
              <a:t>ode</a:t>
            </a:r>
            <a:r>
              <a:rPr lang="ru-RU" sz="2400" b="1" smtClean="0"/>
              <a:t>1</a:t>
            </a:r>
            <a:r>
              <a:rPr lang="en-US" sz="2400" b="1" smtClean="0"/>
              <a:t>5s</a:t>
            </a:r>
            <a:r>
              <a:rPr lang="ru-RU" sz="2400" b="1" smtClean="0"/>
              <a:t>.</a:t>
            </a:r>
            <a:endParaRPr lang="ru-RU" sz="2400" smtClean="0"/>
          </a:p>
          <a:p>
            <a:pPr marL="0" indent="361950">
              <a:buFont typeface="Arial" charset="0"/>
              <a:buNone/>
            </a:pPr>
            <a:endParaRPr lang="ru-RU" sz="2400" smtClean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Содержимое 2"/>
          <p:cNvSpPr>
            <a:spLocks noGrp="1"/>
          </p:cNvSpPr>
          <p:nvPr>
            <p:ph idx="1"/>
          </p:nvPr>
        </p:nvSpPr>
        <p:spPr>
          <a:xfrm>
            <a:off x="457200" y="214313"/>
            <a:ext cx="8229600" cy="6357937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ru-RU" sz="2400" dirty="0" smtClean="0"/>
              <a:t> </a:t>
            </a:r>
          </a:p>
          <a:p>
            <a:pPr marL="0" indent="361950">
              <a:buFont typeface="Arial" charset="0"/>
              <a:buNone/>
              <a:defRPr/>
            </a:pPr>
            <a:r>
              <a:rPr lang="ru-RU" sz="2400" dirty="0" smtClean="0"/>
              <a:t>Для решения системы с небольшим числом жёсткости можно использовать функцию </a:t>
            </a:r>
            <a:r>
              <a:rPr lang="en-US" sz="2400" b="1" dirty="0" smtClean="0"/>
              <a:t>ode</a:t>
            </a:r>
            <a:r>
              <a:rPr lang="ru-RU" sz="2400" b="1" dirty="0" smtClean="0"/>
              <a:t>23</a:t>
            </a:r>
            <a:r>
              <a:rPr lang="en-US" sz="2400" b="1" dirty="0" smtClean="0"/>
              <a:t>t</a:t>
            </a:r>
            <a:r>
              <a:rPr lang="ru-RU" sz="2400" dirty="0" smtClean="0"/>
              <a:t>, а для грубой оценки подобных систем служит функция </a:t>
            </a:r>
            <a:r>
              <a:rPr lang="en-US" sz="2400" b="1" dirty="0" smtClean="0"/>
              <a:t>ode</a:t>
            </a:r>
            <a:r>
              <a:rPr lang="ru-RU" sz="2400" b="1" dirty="0" smtClean="0"/>
              <a:t>23</a:t>
            </a:r>
            <a:r>
              <a:rPr lang="en-US" sz="2400" b="1" dirty="0" smtClean="0"/>
              <a:t>tb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marL="0" indent="361950">
              <a:buFont typeface="Arial" charset="0"/>
              <a:buNone/>
              <a:defRPr/>
            </a:pPr>
            <a:r>
              <a:rPr lang="ru-RU" sz="2400" dirty="0" smtClean="0"/>
              <a:t>Символьное решение обыкновенных дифференциальных уравнений произвольного порядка осуществляет функция </a:t>
            </a:r>
            <a:r>
              <a:rPr lang="ru-RU" sz="2400" b="1" dirty="0" smtClean="0"/>
              <a:t>dsolve</a:t>
            </a:r>
            <a:r>
              <a:rPr lang="en-US" sz="2400" dirty="0" smtClean="0"/>
              <a:t> </a:t>
            </a:r>
            <a:endParaRPr lang="ru-RU" sz="2400" dirty="0" smtClean="0"/>
          </a:p>
          <a:p>
            <a:pPr marL="0" indent="361950">
              <a:buFont typeface="Arial" charset="0"/>
              <a:buNone/>
              <a:defRPr/>
            </a:pPr>
            <a:r>
              <a:rPr lang="en-US" sz="2400" b="1" dirty="0" smtClean="0"/>
              <a:t>r = </a:t>
            </a:r>
            <a:r>
              <a:rPr lang="en-US" sz="2400" b="1" dirty="0" err="1" smtClean="0"/>
              <a:t>dsolve</a:t>
            </a:r>
            <a:r>
              <a:rPr lang="en-US" sz="2400" b="1" dirty="0" smtClean="0"/>
              <a:t>('eq1,eq2,...', 'cond1,cond2,...‘,'v')</a:t>
            </a:r>
            <a:endParaRPr lang="ru-RU" sz="2400" b="1" dirty="0" smtClean="0"/>
          </a:p>
          <a:p>
            <a:pPr marL="0" indent="361950">
              <a:buFont typeface="Arial" charset="0"/>
              <a:buNone/>
              <a:defRPr/>
            </a:pPr>
            <a:r>
              <a:rPr lang="ru-RU" sz="2400" dirty="0" smtClean="0"/>
              <a:t>В листинге Data_sheet1.m приведен код программы, иллюстрирующей использование функции </a:t>
            </a:r>
            <a:r>
              <a:rPr lang="en-US" sz="2400" b="1" dirty="0" err="1" smtClean="0"/>
              <a:t>dsolve</a:t>
            </a:r>
            <a:r>
              <a:rPr lang="ru-RU" sz="2400" dirty="0" smtClean="0"/>
              <a:t> в </a:t>
            </a:r>
            <a:r>
              <a:rPr lang="en-US" sz="2400" dirty="0" smtClean="0"/>
              <a:t>MATLAB</a:t>
            </a:r>
            <a:r>
              <a:rPr lang="ru-RU" sz="2400" dirty="0" smtClean="0"/>
              <a:t>, которая даёт точное решение обыкновенных дифференциальных уравнений произвольного порядка.</a:t>
            </a:r>
          </a:p>
          <a:p>
            <a:pPr marL="0" indent="361950">
              <a:buFont typeface="Arial" charset="0"/>
              <a:buNone/>
              <a:defRPr/>
            </a:pPr>
            <a:r>
              <a:rPr lang="ru-RU" sz="2400" dirty="0" smtClean="0"/>
              <a:t> </a:t>
            </a:r>
            <a:r>
              <a:rPr lang="en-US" sz="2400" dirty="0" smtClean="0"/>
              <a:t>MATLAB</a:t>
            </a:r>
            <a:r>
              <a:rPr lang="ru-RU" sz="2400" dirty="0" smtClean="0"/>
              <a:t> решил все семь дифференциальных уравнений, при этом последнее уравнение он не смог разрешить относительно зависимой переменной</a:t>
            </a:r>
            <a:r>
              <a:rPr lang="ru-RU" sz="2400" i="1" dirty="0" smtClean="0"/>
              <a:t> </a:t>
            </a:r>
            <a:r>
              <a:rPr lang="en-US" sz="2400" i="1" dirty="0" smtClean="0"/>
              <a:t>y</a:t>
            </a:r>
            <a:r>
              <a:rPr lang="ru-RU" sz="2400" dirty="0" smtClean="0"/>
              <a:t>, о чём и доложил. </a:t>
            </a:r>
          </a:p>
          <a:p>
            <a:pPr marL="0" indent="361950">
              <a:buFont typeface="Arial" charset="0"/>
              <a:buNone/>
              <a:defRPr/>
            </a:pPr>
            <a:r>
              <a:rPr lang="en-US" sz="2400" dirty="0" smtClean="0"/>
              <a:t> </a:t>
            </a:r>
            <a:endParaRPr lang="ru-RU" sz="2400" dirty="0" smtClean="0"/>
          </a:p>
          <a:p>
            <a:pPr marL="0" indent="361950">
              <a:buFont typeface="Arial" charset="0"/>
              <a:buNone/>
              <a:defRPr/>
            </a:pPr>
            <a:endParaRPr lang="ru-RU" sz="2400" dirty="0" smtClean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Содержимое 2"/>
          <p:cNvSpPr>
            <a:spLocks noGrp="1"/>
          </p:cNvSpPr>
          <p:nvPr>
            <p:ph idx="1"/>
          </p:nvPr>
        </p:nvSpPr>
        <p:spPr>
          <a:xfrm>
            <a:off x="428625" y="285750"/>
            <a:ext cx="8229600" cy="6383338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ru-RU" sz="2400" dirty="0" smtClean="0"/>
              <a:t> </a:t>
            </a:r>
            <a:r>
              <a:rPr lang="ru-RU" sz="2000" dirty="0" smtClean="0">
                <a:solidFill>
                  <a:schemeClr val="accent3">
                    <a:lumMod val="50000"/>
                  </a:schemeClr>
                </a:solidFill>
              </a:rPr>
              <a:t>%примеры аналитического решения обыкновенных</a:t>
            </a: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</a:rPr>
              <a:t>            </a:t>
            </a:r>
            <a:r>
              <a:rPr lang="en-US" sz="2000" b="1" dirty="0" smtClean="0"/>
              <a:t>Data_sheet1.m</a:t>
            </a:r>
            <a:endParaRPr lang="ru-RU" sz="2000" dirty="0" smtClean="0"/>
          </a:p>
          <a:p>
            <a:pPr>
              <a:buFont typeface="Arial" charset="0"/>
              <a:buNone/>
              <a:defRPr/>
            </a:pPr>
            <a:r>
              <a:rPr lang="ru-RU" sz="2000" dirty="0" smtClean="0">
                <a:solidFill>
                  <a:schemeClr val="accent3">
                    <a:lumMod val="50000"/>
                  </a:schemeClr>
                </a:solidFill>
              </a:rPr>
              <a:t>%дифференциальных уравнений с помощью функции</a:t>
            </a:r>
            <a:endParaRPr lang="ru-RU" sz="2000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charset="0"/>
              <a:buNone/>
              <a:defRPr/>
            </a:pP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</a:rPr>
              <a:t>%MATLAB - </a:t>
            </a:r>
            <a:r>
              <a:rPr lang="en-US" sz="2000" dirty="0" err="1" smtClean="0">
                <a:solidFill>
                  <a:schemeClr val="accent3">
                    <a:lumMod val="50000"/>
                  </a:schemeClr>
                </a:solidFill>
              </a:rPr>
              <a:t>dsolve</a:t>
            </a:r>
            <a:endParaRPr lang="en-US" sz="20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Font typeface="Arial" charset="0"/>
              <a:buNone/>
              <a:defRPr/>
            </a:pPr>
            <a:r>
              <a:rPr lang="ru-RU" sz="2000" dirty="0" smtClean="0">
                <a:solidFill>
                  <a:schemeClr val="accent3">
                    <a:lumMod val="50000"/>
                  </a:schemeClr>
                </a:solidFill>
              </a:rPr>
              <a:t>%пример №1 (</a:t>
            </a: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</a:rPr>
              <a:t>u'=au)</a:t>
            </a:r>
          </a:p>
          <a:p>
            <a:pPr>
              <a:buFont typeface="Arial" charset="0"/>
              <a:buNone/>
              <a:defRPr/>
            </a:pPr>
            <a:r>
              <a:rPr lang="en-US" sz="2000" dirty="0" smtClean="0"/>
              <a:t>expl1=</a:t>
            </a:r>
            <a:r>
              <a:rPr lang="en-US" sz="2000" dirty="0" err="1" smtClean="0"/>
              <a:t>dsolve</a:t>
            </a:r>
            <a:r>
              <a:rPr lang="en-US" sz="2000" dirty="0" smtClean="0"/>
              <a:t>('Du=a*</a:t>
            </a:r>
            <a:r>
              <a:rPr lang="en-US" sz="2000" dirty="0" err="1" smtClean="0"/>
              <a:t>u','x</a:t>
            </a:r>
            <a:r>
              <a:rPr lang="en-US" sz="2000" dirty="0" smtClean="0"/>
              <a:t>')</a:t>
            </a:r>
          </a:p>
          <a:p>
            <a:pPr>
              <a:buFont typeface="Arial" charset="0"/>
              <a:buNone/>
              <a:defRPr/>
            </a:pPr>
            <a:r>
              <a:rPr lang="ru-RU" sz="2000" dirty="0" smtClean="0">
                <a:solidFill>
                  <a:schemeClr val="accent3">
                    <a:lumMod val="50000"/>
                  </a:schemeClr>
                </a:solidFill>
              </a:rPr>
              <a:t>%пример №2 (</a:t>
            </a: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</a:rPr>
              <a:t>u'=u^2)</a:t>
            </a:r>
          </a:p>
          <a:p>
            <a:pPr>
              <a:buFont typeface="Arial" charset="0"/>
              <a:buNone/>
              <a:defRPr/>
            </a:pPr>
            <a:r>
              <a:rPr lang="en-US" sz="2000" dirty="0" smtClean="0"/>
              <a:t>expl2=</a:t>
            </a:r>
            <a:r>
              <a:rPr lang="en-US" sz="2000" dirty="0" err="1" smtClean="0"/>
              <a:t>dsolve</a:t>
            </a:r>
            <a:r>
              <a:rPr lang="en-US" sz="2000" dirty="0" smtClean="0"/>
              <a:t>('Du=u^2','x')</a:t>
            </a:r>
          </a:p>
          <a:p>
            <a:pPr>
              <a:buFont typeface="Arial" charset="0"/>
              <a:buNone/>
              <a:defRPr/>
            </a:pPr>
            <a:r>
              <a:rPr lang="ru-RU" sz="2000" dirty="0" smtClean="0">
                <a:solidFill>
                  <a:schemeClr val="accent3">
                    <a:lumMod val="50000"/>
                  </a:schemeClr>
                </a:solidFill>
              </a:rPr>
              <a:t>%пример №3 (</a:t>
            </a: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</a:rPr>
              <a:t>u''-g=0)</a:t>
            </a:r>
          </a:p>
          <a:p>
            <a:pPr>
              <a:buFont typeface="Arial" charset="0"/>
              <a:buNone/>
              <a:defRPr/>
            </a:pPr>
            <a:r>
              <a:rPr lang="en-US" sz="2000" dirty="0" smtClean="0"/>
              <a:t>expl3=</a:t>
            </a:r>
            <a:r>
              <a:rPr lang="en-US" sz="2000" dirty="0" err="1" smtClean="0"/>
              <a:t>dsolve</a:t>
            </a:r>
            <a:r>
              <a:rPr lang="en-US" sz="2000" dirty="0" smtClean="0"/>
              <a:t>('D2u-g=0','x')</a:t>
            </a:r>
          </a:p>
          <a:p>
            <a:pPr>
              <a:buFont typeface="Arial" charset="0"/>
              <a:buNone/>
              <a:defRPr/>
            </a:pPr>
            <a:r>
              <a:rPr lang="ru-RU" sz="2000" dirty="0" smtClean="0">
                <a:solidFill>
                  <a:schemeClr val="accent3">
                    <a:lumMod val="50000"/>
                  </a:schemeClr>
                </a:solidFill>
              </a:rPr>
              <a:t>%пример №4 (</a:t>
            </a: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</a:rPr>
              <a:t>u''+q^2u=0)</a:t>
            </a:r>
          </a:p>
          <a:p>
            <a:pPr>
              <a:buFont typeface="Arial" charset="0"/>
              <a:buNone/>
              <a:defRPr/>
            </a:pPr>
            <a:r>
              <a:rPr lang="en-US" sz="2000" dirty="0" smtClean="0"/>
              <a:t>expl4=</a:t>
            </a:r>
            <a:r>
              <a:rPr lang="en-US" sz="2000" dirty="0" err="1" smtClean="0"/>
              <a:t>dsolve</a:t>
            </a:r>
            <a:r>
              <a:rPr lang="en-US" sz="2000" dirty="0" smtClean="0"/>
              <a:t>('D2u+q^2*u=0','x')</a:t>
            </a:r>
          </a:p>
          <a:p>
            <a:pPr>
              <a:buFont typeface="Arial" charset="0"/>
              <a:buNone/>
              <a:defRPr/>
            </a:pPr>
            <a:r>
              <a:rPr lang="ru-RU" sz="2000" dirty="0" smtClean="0">
                <a:solidFill>
                  <a:schemeClr val="accent3">
                    <a:lumMod val="50000"/>
                  </a:schemeClr>
                </a:solidFill>
              </a:rPr>
              <a:t>%пример №5 (</a:t>
            </a:r>
            <a:r>
              <a:rPr lang="ru-RU" sz="2000" dirty="0" err="1" smtClean="0">
                <a:solidFill>
                  <a:schemeClr val="accent3">
                    <a:lumMod val="50000"/>
                  </a:schemeClr>
                </a:solidFill>
              </a:rPr>
              <a:t>u</a:t>
            </a:r>
            <a:r>
              <a:rPr lang="ru-RU" sz="2000" dirty="0" smtClean="0">
                <a:solidFill>
                  <a:schemeClr val="accent3">
                    <a:lumMod val="50000"/>
                  </a:schemeClr>
                </a:solidFill>
              </a:rPr>
              <a:t>''-(3/4)</a:t>
            </a:r>
            <a:r>
              <a:rPr lang="ru-RU" sz="2000" dirty="0" err="1" smtClean="0">
                <a:solidFill>
                  <a:schemeClr val="accent3">
                    <a:lumMod val="50000"/>
                  </a:schemeClr>
                </a:solidFill>
              </a:rPr>
              <a:t>x^</a:t>
            </a:r>
            <a:r>
              <a:rPr lang="ru-RU" sz="2000" dirty="0" smtClean="0">
                <a:solidFill>
                  <a:schemeClr val="accent3">
                    <a:lumMod val="50000"/>
                  </a:schemeClr>
                </a:solidFill>
              </a:rPr>
              <a:t>(-2)u=0)</a:t>
            </a:r>
          </a:p>
          <a:p>
            <a:pPr>
              <a:buFont typeface="Arial" charset="0"/>
              <a:buNone/>
              <a:defRPr/>
            </a:pPr>
            <a:r>
              <a:rPr lang="es-ES" sz="2000" dirty="0" smtClean="0"/>
              <a:t>expl5=dsolve('D2u-(3/4)*x^(-2)*u=0','x')</a:t>
            </a:r>
          </a:p>
          <a:p>
            <a:pPr>
              <a:buFont typeface="Arial" charset="0"/>
              <a:buNone/>
              <a:defRPr/>
            </a:pPr>
            <a:r>
              <a:rPr lang="ru-RU" sz="2000" dirty="0" smtClean="0">
                <a:solidFill>
                  <a:schemeClr val="accent3">
                    <a:lumMod val="50000"/>
                  </a:schemeClr>
                </a:solidFill>
              </a:rPr>
              <a:t>%пример №6 (</a:t>
            </a: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</a:rPr>
              <a:t>u'=f(x))</a:t>
            </a:r>
          </a:p>
          <a:p>
            <a:pPr>
              <a:buFont typeface="Arial" charset="0"/>
              <a:buNone/>
              <a:defRPr/>
            </a:pPr>
            <a:r>
              <a:rPr lang="en-US" sz="2000" dirty="0" smtClean="0"/>
              <a:t>expl6=</a:t>
            </a:r>
            <a:r>
              <a:rPr lang="en-US" sz="2000" dirty="0" err="1" smtClean="0"/>
              <a:t>dsolve</a:t>
            </a:r>
            <a:r>
              <a:rPr lang="en-US" sz="2000" dirty="0" smtClean="0"/>
              <a:t>('Du=f(x)','x')</a:t>
            </a:r>
          </a:p>
          <a:p>
            <a:pPr>
              <a:buFont typeface="Arial" charset="0"/>
              <a:buNone/>
              <a:defRPr/>
            </a:pPr>
            <a:r>
              <a:rPr lang="pl-PL" sz="2000" dirty="0" smtClean="0">
                <a:solidFill>
                  <a:schemeClr val="accent3">
                    <a:lumMod val="50000"/>
                  </a:schemeClr>
                </a:solidFill>
              </a:rPr>
              <a:t>%пример №7 (u'=(u-x)/(u+x))</a:t>
            </a:r>
          </a:p>
          <a:p>
            <a:pPr>
              <a:buFont typeface="Arial" charset="0"/>
              <a:buNone/>
              <a:defRPr/>
            </a:pPr>
            <a:r>
              <a:rPr lang="es-ES" sz="2000" dirty="0" smtClean="0"/>
              <a:t>expl7=dsolve('Du=(u-x)/(u+x)','x')</a:t>
            </a:r>
          </a:p>
          <a:p>
            <a:pPr marL="0" indent="361950">
              <a:buFont typeface="Arial" charset="0"/>
              <a:buNone/>
              <a:defRPr/>
            </a:pPr>
            <a:endParaRPr lang="ru-RU" sz="2400" dirty="0" smtClean="0"/>
          </a:p>
          <a:p>
            <a:pPr marL="0" indent="361950">
              <a:buFont typeface="Arial" charset="0"/>
              <a:buNone/>
              <a:defRPr/>
            </a:pPr>
            <a:endParaRPr lang="ru-RU" sz="2400" dirty="0" smtClean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Содержимое 2"/>
          <p:cNvSpPr>
            <a:spLocks noGrp="1"/>
          </p:cNvSpPr>
          <p:nvPr>
            <p:ph idx="1"/>
          </p:nvPr>
        </p:nvSpPr>
        <p:spPr>
          <a:xfrm>
            <a:off x="457200" y="285750"/>
            <a:ext cx="8229600" cy="6286500"/>
          </a:xfrm>
        </p:spPr>
        <p:txBody>
          <a:bodyPr/>
          <a:lstStyle/>
          <a:p>
            <a:pPr marL="0" indent="361950">
              <a:buFont typeface="Arial" charset="0"/>
              <a:buNone/>
              <a:defRPr/>
            </a:pPr>
            <a:r>
              <a:rPr lang="ru-RU" sz="2000" b="1" dirty="0" smtClean="0"/>
              <a:t>Пример</a:t>
            </a:r>
            <a:r>
              <a:rPr lang="ru-RU" sz="2000" dirty="0" smtClean="0"/>
              <a:t>:</a:t>
            </a:r>
          </a:p>
          <a:p>
            <a:pPr marL="0" indent="361950">
              <a:buFont typeface="Arial" charset="0"/>
              <a:buNone/>
              <a:defRPr/>
            </a:pPr>
            <a:r>
              <a:rPr lang="ru-RU" sz="2000" dirty="0" smtClean="0"/>
              <a:t>В М-файле с именем </a:t>
            </a:r>
            <a:r>
              <a:rPr lang="en-US" sz="2000" dirty="0" smtClean="0"/>
              <a:t>pr</a:t>
            </a:r>
            <a:r>
              <a:rPr lang="ru-RU" sz="2000" dirty="0" smtClean="0"/>
              <a:t>7.</a:t>
            </a:r>
            <a:r>
              <a:rPr lang="en-US" sz="2000" dirty="0" smtClean="0"/>
              <a:t>m</a:t>
            </a:r>
            <a:r>
              <a:rPr lang="ru-RU" sz="2000" dirty="0" smtClean="0"/>
              <a:t> пишем:</a:t>
            </a:r>
          </a:p>
          <a:p>
            <a:pPr marL="0" indent="361950">
              <a:buFont typeface="Arial" charset="0"/>
              <a:buNone/>
              <a:defRPr/>
            </a:pPr>
            <a:r>
              <a:rPr lang="en-US" sz="2000" dirty="0" smtClean="0"/>
              <a:t>function f=pr7(x,y)</a:t>
            </a:r>
            <a:endParaRPr lang="ru-RU" sz="2000" dirty="0" smtClean="0"/>
          </a:p>
          <a:p>
            <a:pPr marL="0" indent="361950">
              <a:buFont typeface="Arial" charset="0"/>
              <a:buNone/>
              <a:defRPr/>
            </a:pPr>
            <a:r>
              <a:rPr lang="en-US" sz="2000" dirty="0" smtClean="0"/>
              <a:t>f=cos(</a:t>
            </a:r>
            <a:r>
              <a:rPr lang="en-US" sz="2000" dirty="0" err="1" smtClean="0"/>
              <a:t>x+y</a:t>
            </a:r>
            <a:r>
              <a:rPr lang="en-US" sz="2000" dirty="0" smtClean="0"/>
              <a:t>)+(3/2)*(x-y);</a:t>
            </a:r>
            <a:endParaRPr lang="ru-RU" sz="2000" dirty="0" smtClean="0"/>
          </a:p>
          <a:p>
            <a:pPr marL="0" indent="361950">
              <a:buFont typeface="Arial" charset="0"/>
              <a:buNone/>
              <a:defRPr/>
            </a:pPr>
            <a:r>
              <a:rPr lang="en-US" sz="2000" dirty="0" smtClean="0"/>
              <a:t>end</a:t>
            </a:r>
            <a:endParaRPr lang="ru-RU" sz="2000" dirty="0" smtClean="0"/>
          </a:p>
          <a:p>
            <a:pPr marL="0" indent="271463">
              <a:buFont typeface="Arial" charset="0"/>
              <a:buNone/>
              <a:defRPr/>
            </a:pPr>
            <a:r>
              <a:rPr lang="ru-RU" sz="2000" dirty="0" smtClean="0"/>
              <a:t>Потом в командном окне вызываем функцию ode113:</a:t>
            </a:r>
          </a:p>
          <a:p>
            <a:pPr marL="0" indent="271463">
              <a:buFont typeface="Arial" charset="0"/>
              <a:buNone/>
              <a:defRPr/>
            </a:pPr>
            <a:r>
              <a:rPr lang="ru-RU" sz="2000" smtClean="0"/>
              <a:t>ode113</a:t>
            </a:r>
            <a:r>
              <a:rPr lang="ru-RU" sz="2000" dirty="0" smtClean="0"/>
              <a:t>(@pr7,[0 20],0)      %Метод Адамса: @</a:t>
            </a:r>
            <a:r>
              <a:rPr lang="en-US" sz="2000" dirty="0" smtClean="0"/>
              <a:t>pr</a:t>
            </a:r>
            <a:r>
              <a:rPr lang="ru-RU" sz="2000" dirty="0" smtClean="0"/>
              <a:t>7 – ссылка на М-функцию, [0 20]- интервалы интегрирования,0 - условие: y(0)=0</a:t>
            </a:r>
          </a:p>
          <a:p>
            <a:pPr marL="0" indent="271463">
              <a:buFont typeface="Arial" charset="0"/>
              <a:buNone/>
              <a:defRPr/>
            </a:pPr>
            <a:endParaRPr lang="ru-RU" sz="2000" dirty="0" smtClean="0"/>
          </a:p>
          <a:p>
            <a:pPr marL="0" indent="271463">
              <a:buFont typeface="Arial" charset="0"/>
              <a:buNone/>
              <a:defRPr/>
            </a:pPr>
            <a:r>
              <a:rPr lang="ru-RU" sz="2000" dirty="0" smtClean="0"/>
              <a:t>Результатом будет график:</a:t>
            </a:r>
            <a:endParaRPr lang="en-US" sz="2000" dirty="0" smtClean="0"/>
          </a:p>
          <a:p>
            <a:pPr marL="0" indent="271463">
              <a:buFont typeface="Arial" charset="0"/>
              <a:buNone/>
              <a:defRPr/>
            </a:pPr>
            <a:endParaRPr lang="en-US" sz="2000" dirty="0" smtClean="0"/>
          </a:p>
          <a:p>
            <a:pPr marL="0" indent="271463">
              <a:buFont typeface="Arial" charset="0"/>
              <a:buNone/>
              <a:defRPr/>
            </a:pPr>
            <a:r>
              <a:rPr lang="ru-RU" sz="2000" dirty="0" smtClean="0"/>
              <a:t>Если хотите получить значения, то</a:t>
            </a:r>
          </a:p>
          <a:p>
            <a:pPr marL="0" indent="271463">
              <a:buNone/>
              <a:defRPr/>
            </a:pPr>
            <a:r>
              <a:rPr lang="ru-RU" sz="2000" dirty="0" smtClean="0"/>
              <a:t>обратитесь к функции так: </a:t>
            </a:r>
          </a:p>
          <a:p>
            <a:pPr marL="0" indent="271463">
              <a:buNone/>
              <a:defRPr/>
            </a:pPr>
            <a:r>
              <a:rPr lang="en-US" sz="2000" dirty="0" smtClean="0"/>
              <a:t>[</a:t>
            </a:r>
            <a:r>
              <a:rPr lang="en-US" sz="2000" dirty="0" err="1" smtClean="0"/>
              <a:t>x,y</a:t>
            </a:r>
            <a:r>
              <a:rPr lang="en-US" sz="2000" dirty="0" smtClean="0"/>
              <a:t>]=</a:t>
            </a:r>
            <a:r>
              <a:rPr lang="ru-RU" sz="2000" dirty="0" smtClean="0"/>
              <a:t> ode113(@pr7,[0 20],0)</a:t>
            </a:r>
            <a:endParaRPr lang="ru-RU" sz="2000" dirty="0"/>
          </a:p>
        </p:txBody>
      </p:sp>
      <p:pic>
        <p:nvPicPr>
          <p:cNvPr id="44035" name="Рисунок 2" descr="image01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3356992"/>
            <a:ext cx="4476750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Содержимое 2"/>
          <p:cNvSpPr>
            <a:spLocks noGrp="1"/>
          </p:cNvSpPr>
          <p:nvPr>
            <p:ph idx="1"/>
          </p:nvPr>
        </p:nvSpPr>
        <p:spPr>
          <a:xfrm>
            <a:off x="457200" y="0"/>
            <a:ext cx="8686800" cy="6572250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ru-RU" sz="1800" b="1" dirty="0" smtClean="0"/>
              <a:t>Пример.</a:t>
            </a:r>
            <a:endParaRPr lang="en-US" sz="1800" b="1" dirty="0" smtClean="0"/>
          </a:p>
          <a:p>
            <a:pPr>
              <a:buFont typeface="Arial" charset="0"/>
              <a:buNone/>
            </a:pPr>
            <a:r>
              <a:rPr lang="ru-RU" sz="1800" dirty="0" smtClean="0"/>
              <a:t>% Решить задачу Коши методом Эйлера и оценить погрешность.</a:t>
            </a:r>
            <a:br>
              <a:rPr lang="ru-RU" sz="1800" dirty="0" smtClean="0"/>
            </a:br>
            <a:r>
              <a:rPr lang="ru-RU" sz="1800" dirty="0" smtClean="0"/>
              <a:t>% Введём функцию</a:t>
            </a:r>
            <a:br>
              <a:rPr lang="ru-RU" sz="1800" dirty="0" smtClean="0"/>
            </a:br>
            <a:r>
              <a:rPr lang="ru-RU" sz="1800" dirty="0" err="1" smtClean="0"/>
              <a:t>f</a:t>
            </a:r>
            <a:r>
              <a:rPr lang="ru-RU" sz="1800" dirty="0" smtClean="0"/>
              <a:t> = </a:t>
            </a:r>
            <a:r>
              <a:rPr lang="ru-RU" sz="1800" dirty="0" err="1" smtClean="0"/>
              <a:t>inline</a:t>
            </a:r>
            <a:r>
              <a:rPr lang="ru-RU" sz="1800" dirty="0" smtClean="0"/>
              <a:t>('</a:t>
            </a:r>
            <a:r>
              <a:rPr lang="ru-RU" sz="1800" dirty="0" err="1" smtClean="0"/>
              <a:t>y-t</a:t>
            </a:r>
            <a:r>
              <a:rPr lang="ru-RU" sz="1800" dirty="0" smtClean="0"/>
              <a:t>');</a:t>
            </a:r>
            <a:endParaRPr lang="en-US" sz="1800" dirty="0" smtClean="0"/>
          </a:p>
          <a:p>
            <a:pPr>
              <a:buFont typeface="Arial" charset="0"/>
              <a:buNone/>
            </a:pPr>
            <a:r>
              <a:rPr lang="ru-RU" sz="1800" dirty="0" smtClean="0"/>
              <a:t>% Начальные условия</a:t>
            </a:r>
            <a:br>
              <a:rPr lang="ru-RU" sz="1800" dirty="0" smtClean="0"/>
            </a:br>
            <a:r>
              <a:rPr lang="ru-RU" sz="1800" dirty="0" smtClean="0"/>
              <a:t>y0 = 1.5;</a:t>
            </a:r>
          </a:p>
          <a:p>
            <a:pPr>
              <a:buFont typeface="Arial" charset="0"/>
              <a:buNone/>
            </a:pPr>
            <a:r>
              <a:rPr lang="ru-RU" sz="1800" dirty="0" smtClean="0"/>
              <a:t>% Точное решение</a:t>
            </a:r>
            <a:br>
              <a:rPr lang="ru-RU" sz="1800" dirty="0" smtClean="0"/>
            </a:br>
            <a:r>
              <a:rPr lang="ru-RU" sz="1800" b="1" dirty="0" err="1" smtClean="0"/>
              <a:t>ye</a:t>
            </a:r>
            <a:r>
              <a:rPr lang="ru-RU" sz="1800" b="1" dirty="0" smtClean="0"/>
              <a:t> = </a:t>
            </a:r>
            <a:r>
              <a:rPr lang="ru-RU" sz="1800" b="1" dirty="0" err="1" smtClean="0"/>
              <a:t>dsolve</a:t>
            </a:r>
            <a:r>
              <a:rPr lang="ru-RU" sz="1800" b="1" dirty="0" smtClean="0"/>
              <a:t>('</a:t>
            </a:r>
            <a:r>
              <a:rPr lang="ru-RU" sz="1800" b="1" dirty="0" err="1" smtClean="0"/>
              <a:t>Dy=y-t','y</a:t>
            </a:r>
            <a:r>
              <a:rPr lang="ru-RU" sz="1800" b="1" dirty="0" smtClean="0"/>
              <a:t>(0)=1.5');</a:t>
            </a:r>
          </a:p>
          <a:p>
            <a:pPr>
              <a:buFont typeface="Arial" charset="0"/>
              <a:buNone/>
            </a:pPr>
            <a:r>
              <a:rPr lang="ru-RU" sz="1800" dirty="0" smtClean="0"/>
              <a:t>% Приближённое решение по методу Эйлера, t=0..1</a:t>
            </a:r>
            <a:br>
              <a:rPr lang="ru-RU" sz="1800" dirty="0" smtClean="0"/>
            </a:br>
            <a:r>
              <a:rPr lang="ru-RU" sz="1800" dirty="0" err="1" smtClean="0"/>
              <a:t>n</a:t>
            </a:r>
            <a:r>
              <a:rPr lang="ru-RU" sz="1800" dirty="0" smtClean="0"/>
              <a:t> = 100;</a:t>
            </a:r>
            <a:br>
              <a:rPr lang="ru-RU" sz="1800" dirty="0" smtClean="0"/>
            </a:br>
            <a:r>
              <a:rPr lang="ru-RU" sz="1800" dirty="0" err="1" smtClean="0"/>
              <a:t>h</a:t>
            </a:r>
            <a:r>
              <a:rPr lang="ru-RU" sz="1800" dirty="0" smtClean="0"/>
              <a:t> = 1 / </a:t>
            </a:r>
            <a:r>
              <a:rPr lang="ru-RU" sz="1800" dirty="0" err="1" smtClean="0"/>
              <a:t>n</a:t>
            </a:r>
            <a:r>
              <a:rPr lang="ru-RU" sz="1800" dirty="0" smtClean="0"/>
              <a:t>;</a:t>
            </a:r>
            <a:br>
              <a:rPr lang="ru-RU" sz="1800" dirty="0" smtClean="0"/>
            </a:br>
            <a:r>
              <a:rPr lang="ru-RU" sz="1800" dirty="0" err="1" smtClean="0"/>
              <a:t>y</a:t>
            </a:r>
            <a:r>
              <a:rPr lang="ru-RU" sz="1800" dirty="0" smtClean="0"/>
              <a:t> = [];</a:t>
            </a:r>
            <a:br>
              <a:rPr lang="ru-RU" sz="1800" dirty="0" smtClean="0"/>
            </a:br>
            <a:r>
              <a:rPr lang="ru-RU" sz="1800" dirty="0" smtClean="0"/>
              <a:t>t0 = 0;</a:t>
            </a:r>
            <a:br>
              <a:rPr lang="ru-RU" sz="1800" dirty="0" smtClean="0"/>
            </a:br>
            <a:r>
              <a:rPr lang="ru-RU" sz="1800" dirty="0" err="1" smtClean="0"/>
              <a:t>for</a:t>
            </a:r>
            <a:r>
              <a:rPr lang="ru-RU" sz="1800" dirty="0" smtClean="0"/>
              <a:t> i=1:n</a:t>
            </a:r>
            <a:br>
              <a:rPr lang="ru-RU" sz="1800" dirty="0" smtClean="0"/>
            </a:br>
            <a:r>
              <a:rPr lang="ru-RU" sz="1800" dirty="0" err="1" smtClean="0"/>
              <a:t>y</a:t>
            </a:r>
            <a:r>
              <a:rPr lang="ru-RU" sz="1800" dirty="0" smtClean="0"/>
              <a:t>(end+1) = y0;</a:t>
            </a:r>
            <a:br>
              <a:rPr lang="ru-RU" sz="1800" dirty="0" smtClean="0"/>
            </a:br>
            <a:r>
              <a:rPr lang="ru-RU" sz="1800" dirty="0" smtClean="0"/>
              <a:t>y0 = </a:t>
            </a:r>
            <a:r>
              <a:rPr lang="ru-RU" sz="1800" dirty="0" err="1" smtClean="0"/>
              <a:t>y0</a:t>
            </a:r>
            <a:r>
              <a:rPr lang="ru-RU" sz="1800" dirty="0" smtClean="0"/>
              <a:t> + </a:t>
            </a:r>
            <a:r>
              <a:rPr lang="ru-RU" sz="1800" dirty="0" err="1" smtClean="0"/>
              <a:t>h</a:t>
            </a:r>
            <a:r>
              <a:rPr lang="ru-RU" sz="1800" dirty="0" smtClean="0"/>
              <a:t> * </a:t>
            </a:r>
            <a:r>
              <a:rPr lang="ru-RU" sz="1800" dirty="0" err="1" smtClean="0"/>
              <a:t>f</a:t>
            </a:r>
            <a:r>
              <a:rPr lang="ru-RU" sz="1800" dirty="0" smtClean="0"/>
              <a:t>(t0, y0);</a:t>
            </a:r>
            <a:br>
              <a:rPr lang="ru-RU" sz="1800" dirty="0" smtClean="0"/>
            </a:br>
            <a:r>
              <a:rPr lang="ru-RU" sz="1800" dirty="0" smtClean="0"/>
              <a:t>t0 = </a:t>
            </a:r>
            <a:r>
              <a:rPr lang="ru-RU" sz="1800" dirty="0" err="1" smtClean="0"/>
              <a:t>t0</a:t>
            </a:r>
            <a:r>
              <a:rPr lang="ru-RU" sz="1800" dirty="0" smtClean="0"/>
              <a:t> + </a:t>
            </a:r>
            <a:r>
              <a:rPr lang="ru-RU" sz="1800" dirty="0" err="1" smtClean="0"/>
              <a:t>h</a:t>
            </a:r>
            <a:r>
              <a:rPr lang="ru-RU" sz="1800" dirty="0" smtClean="0"/>
              <a:t>;</a:t>
            </a:r>
            <a:br>
              <a:rPr lang="ru-RU" sz="1800" dirty="0" smtClean="0"/>
            </a:br>
            <a:r>
              <a:rPr lang="ru-RU" sz="1800" dirty="0" err="1" smtClean="0"/>
              <a:t>end</a:t>
            </a:r>
            <a:endParaRPr lang="en-US" sz="1800" dirty="0" smtClean="0"/>
          </a:p>
          <a:p>
            <a:pPr>
              <a:buNone/>
            </a:pPr>
            <a:r>
              <a:rPr lang="ru-RU" sz="1800" dirty="0" smtClean="0"/>
              <a:t>% Найдём погрешность решения</a:t>
            </a:r>
            <a:br>
              <a:rPr lang="ru-RU" sz="1800" dirty="0" smtClean="0"/>
            </a:br>
            <a:r>
              <a:rPr lang="ru-RU" sz="1800" dirty="0" err="1" smtClean="0"/>
              <a:t>t</a:t>
            </a:r>
            <a:r>
              <a:rPr lang="ru-RU" sz="1800" dirty="0" smtClean="0"/>
              <a:t> = </a:t>
            </a:r>
            <a:r>
              <a:rPr lang="ru-RU" sz="1800" dirty="0" err="1" smtClean="0"/>
              <a:t>linspace</a:t>
            </a:r>
            <a:r>
              <a:rPr lang="ru-RU" sz="1800" dirty="0" smtClean="0"/>
              <a:t>(0, 1, </a:t>
            </a:r>
            <a:r>
              <a:rPr lang="ru-RU" sz="1800" dirty="0" err="1" smtClean="0"/>
              <a:t>n</a:t>
            </a:r>
            <a:r>
              <a:rPr lang="ru-RU" sz="1800" dirty="0" smtClean="0"/>
              <a:t>);                      </a:t>
            </a:r>
            <a:r>
              <a:rPr lang="ru-RU" sz="1800" dirty="0" smtClean="0">
                <a:solidFill>
                  <a:srgbClr val="FF0000"/>
                </a:solidFill>
              </a:rPr>
              <a:t>переменная </a:t>
            </a:r>
            <a:r>
              <a:rPr lang="en-US" sz="1800" i="1" dirty="0" smtClean="0">
                <a:solidFill>
                  <a:srgbClr val="FF0000"/>
                </a:solidFill>
              </a:rPr>
              <a:t>t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ru-RU" sz="1800" dirty="0" smtClean="0">
                <a:solidFill>
                  <a:srgbClr val="FF0000"/>
                </a:solidFill>
              </a:rPr>
              <a:t>используется в </a:t>
            </a:r>
            <a:r>
              <a:rPr lang="en-US" sz="1800" dirty="0" smtClean="0">
                <a:solidFill>
                  <a:srgbClr val="FF0000"/>
                </a:solidFill>
              </a:rPr>
              <a:t>MATLAB</a:t>
            </a:r>
            <a:r>
              <a:rPr lang="ru-RU" sz="1800" dirty="0" smtClean="0">
                <a:solidFill>
                  <a:srgbClr val="FF0000"/>
                </a:solidFill>
              </a:rPr>
              <a:t> по умолчанию.</a:t>
            </a:r>
            <a:r>
              <a:rPr lang="ru-RU" sz="1800" dirty="0" smtClean="0"/>
              <a:t/>
            </a:r>
            <a:br>
              <a:rPr lang="ru-RU" sz="1800" dirty="0" smtClean="0"/>
            </a:br>
            <a:r>
              <a:rPr lang="ru-RU" sz="1800" dirty="0" err="1" smtClean="0"/>
              <a:t>dy</a:t>
            </a:r>
            <a:r>
              <a:rPr lang="ru-RU" sz="1800" dirty="0" smtClean="0"/>
              <a:t> = </a:t>
            </a:r>
            <a:r>
              <a:rPr lang="ru-RU" sz="1800" dirty="0" err="1" smtClean="0"/>
              <a:t>max</a:t>
            </a:r>
            <a:r>
              <a:rPr lang="ru-RU" sz="1800" dirty="0" smtClean="0"/>
              <a:t>(</a:t>
            </a:r>
            <a:r>
              <a:rPr lang="ru-RU" sz="1800" dirty="0" err="1" smtClean="0"/>
              <a:t>abs</a:t>
            </a:r>
            <a:r>
              <a:rPr lang="ru-RU" sz="1800" dirty="0" smtClean="0"/>
              <a:t>(</a:t>
            </a:r>
            <a:r>
              <a:rPr lang="ru-RU" sz="1800" dirty="0" err="1" smtClean="0"/>
              <a:t>y</a:t>
            </a:r>
            <a:r>
              <a:rPr lang="ru-RU" sz="1800" dirty="0" smtClean="0"/>
              <a:t> - </a:t>
            </a:r>
            <a:r>
              <a:rPr lang="ru-RU" sz="1800" dirty="0" err="1" smtClean="0"/>
              <a:t>subs</a:t>
            </a:r>
            <a:r>
              <a:rPr lang="ru-RU" sz="1800" dirty="0" smtClean="0"/>
              <a:t>(</a:t>
            </a:r>
            <a:r>
              <a:rPr lang="ru-RU" sz="1800" dirty="0" err="1" smtClean="0"/>
              <a:t>ye</a:t>
            </a:r>
            <a:r>
              <a:rPr lang="ru-RU" sz="1800" dirty="0" smtClean="0"/>
              <a:t>, </a:t>
            </a:r>
            <a:r>
              <a:rPr lang="ru-RU" sz="1800" dirty="0" err="1" smtClean="0"/>
              <a:t>t</a:t>
            </a:r>
            <a:r>
              <a:rPr lang="ru-RU" sz="1800" dirty="0" smtClean="0"/>
              <a:t>)))      </a:t>
            </a:r>
            <a:r>
              <a:rPr lang="ru-RU" sz="1800" dirty="0" smtClean="0">
                <a:solidFill>
                  <a:srgbClr val="FF0000"/>
                </a:solidFill>
              </a:rPr>
              <a:t>Если есть </a:t>
            </a:r>
            <a:r>
              <a:rPr lang="en-US" sz="1800" i="1" dirty="0" smtClean="0">
                <a:solidFill>
                  <a:srgbClr val="FF0000"/>
                </a:solidFill>
              </a:rPr>
              <a:t>x</a:t>
            </a:r>
            <a:r>
              <a:rPr lang="ru-RU" sz="1800" dirty="0" smtClean="0">
                <a:solidFill>
                  <a:srgbClr val="FF0000"/>
                </a:solidFill>
              </a:rPr>
              <a:t>, то нужно так обратиться </a:t>
            </a:r>
            <a:r>
              <a:rPr lang="en-US" sz="1800" i="1" dirty="0" smtClean="0">
                <a:solidFill>
                  <a:srgbClr val="FF0000"/>
                </a:solidFill>
              </a:rPr>
              <a:t>subs(</a:t>
            </a:r>
            <a:r>
              <a:rPr lang="en-US" sz="1800" i="1" dirty="0" err="1" smtClean="0">
                <a:solidFill>
                  <a:srgbClr val="FF0000"/>
                </a:solidFill>
              </a:rPr>
              <a:t>ye,t,x</a:t>
            </a:r>
            <a:r>
              <a:rPr lang="en-US" sz="1800" i="1" dirty="0" smtClean="0">
                <a:solidFill>
                  <a:srgbClr val="FF0000"/>
                </a:solidFill>
              </a:rPr>
              <a:t>)</a:t>
            </a:r>
            <a:r>
              <a:rPr lang="ru-RU" sz="1800" dirty="0" smtClean="0">
                <a:solidFill>
                  <a:srgbClr val="FF0000"/>
                </a:solidFill>
              </a:rPr>
              <a:t>;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endParaRPr lang="ru-RU" sz="18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ru-RU" sz="1800" dirty="0" smtClean="0"/>
              <a:t>&gt;&gt;                                                            </a:t>
            </a:r>
            <a:r>
              <a:rPr lang="en-US" sz="1800" i="1" dirty="0" smtClean="0">
                <a:solidFill>
                  <a:srgbClr val="FF0000"/>
                </a:solidFill>
              </a:rPr>
              <a:t>x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ru-RU" sz="1800" dirty="0" smtClean="0">
                <a:solidFill>
                  <a:srgbClr val="FF0000"/>
                </a:solidFill>
              </a:rPr>
              <a:t>– будет подставлено вместо </a:t>
            </a:r>
            <a:r>
              <a:rPr lang="en-US" sz="1800" i="1" dirty="0" smtClean="0">
                <a:solidFill>
                  <a:srgbClr val="FF0000"/>
                </a:solidFill>
              </a:rPr>
              <a:t>t</a:t>
            </a:r>
            <a:r>
              <a:rPr lang="en-US" sz="1800" dirty="0" smtClean="0">
                <a:solidFill>
                  <a:srgbClr val="FF0000"/>
                </a:solidFill>
              </a:rPr>
              <a:t>.</a:t>
            </a:r>
            <a:r>
              <a:rPr lang="ru-RU" sz="1800" dirty="0" smtClean="0"/>
              <a:t/>
            </a:r>
            <a:br>
              <a:rPr lang="ru-RU" sz="1800" dirty="0" smtClean="0"/>
            </a:br>
            <a:r>
              <a:rPr lang="ru-RU" sz="1800" dirty="0" err="1" smtClean="0"/>
              <a:t>dy</a:t>
            </a:r>
            <a:r>
              <a:rPr lang="ru-RU" sz="1800" dirty="0" smtClean="0"/>
              <a:t> = 0.0301</a:t>
            </a:r>
            <a:endParaRPr lang="ru-RU" sz="1800" b="1" dirty="0" smtClean="0"/>
          </a:p>
          <a:p>
            <a:pPr>
              <a:buFont typeface="Arial" charset="0"/>
              <a:buNone/>
            </a:pPr>
            <a:endParaRPr lang="ru-RU" sz="1800" dirty="0" smtClean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Содержимое 3"/>
          <p:cNvSpPr>
            <a:spLocks noGrp="1"/>
          </p:cNvSpPr>
          <p:nvPr>
            <p:ph idx="1"/>
          </p:nvPr>
        </p:nvSpPr>
        <p:spPr>
          <a:xfrm>
            <a:off x="457200" y="357188"/>
            <a:ext cx="8229600" cy="6286500"/>
          </a:xfrm>
        </p:spPr>
        <p:txBody>
          <a:bodyPr/>
          <a:lstStyle/>
          <a:p>
            <a:pPr marL="0" indent="358775" algn="ctr">
              <a:buFont typeface="Arial" charset="0"/>
              <a:buNone/>
              <a:defRPr/>
            </a:pPr>
            <a:r>
              <a:rPr lang="ru-RU" sz="2400" b="1" dirty="0" smtClean="0"/>
              <a:t>Задания</a:t>
            </a:r>
          </a:p>
          <a:p>
            <a:pPr marL="0" indent="0">
              <a:buFont typeface="Arial" charset="0"/>
              <a:buNone/>
              <a:defRPr/>
            </a:pPr>
            <a:r>
              <a:rPr lang="ru-RU" sz="2400" b="1" dirty="0" smtClean="0"/>
              <a:t>Задача 1</a:t>
            </a:r>
            <a:r>
              <a:rPr lang="ru-RU" sz="2400" dirty="0" smtClean="0"/>
              <a:t>. Проверить, являются ли данные функции решениями указанных дифференциальных уравнений:</a:t>
            </a:r>
            <a:endParaRPr lang="en-US" sz="2400" dirty="0" smtClean="0"/>
          </a:p>
          <a:p>
            <a:pPr marL="0" indent="0">
              <a:buFont typeface="Arial" charset="0"/>
              <a:buNone/>
              <a:defRPr/>
            </a:pPr>
            <a:endParaRPr lang="en-US" sz="2400" dirty="0" smtClean="0"/>
          </a:p>
          <a:p>
            <a:pPr marL="0" indent="0">
              <a:buFont typeface="Arial" charset="0"/>
              <a:buNone/>
              <a:defRPr/>
            </a:pPr>
            <a:endParaRPr lang="en-US" sz="2400" dirty="0" smtClean="0"/>
          </a:p>
          <a:p>
            <a:pPr marL="0" indent="0">
              <a:buFont typeface="Arial" charset="0"/>
              <a:buNone/>
              <a:defRPr/>
            </a:pPr>
            <a:endParaRPr lang="en-US" sz="2400" dirty="0" smtClean="0"/>
          </a:p>
          <a:p>
            <a:pPr marL="0" indent="0">
              <a:buFont typeface="Arial" charset="0"/>
              <a:buNone/>
              <a:defRPr/>
            </a:pPr>
            <a:r>
              <a:rPr lang="ru-RU" sz="2400" b="1" dirty="0" smtClean="0"/>
              <a:t>Задача 2</a:t>
            </a:r>
            <a:r>
              <a:rPr lang="en-US" sz="2400" b="1" dirty="0" smtClean="0"/>
              <a:t>.</a:t>
            </a:r>
            <a:endParaRPr lang="ru-RU" sz="2400" dirty="0" smtClean="0"/>
          </a:p>
          <a:p>
            <a:pPr marL="0" indent="0">
              <a:buFont typeface="Arial" charset="0"/>
              <a:buNone/>
              <a:defRPr/>
            </a:pPr>
            <a:r>
              <a:rPr lang="ru-RU" sz="2400" dirty="0" smtClean="0"/>
              <a:t>А) Найти  методом Эйлера на отрезке [0, 1] c шагом </a:t>
            </a:r>
            <a:r>
              <a:rPr lang="ru-RU" sz="2400" i="1" dirty="0" smtClean="0"/>
              <a:t>h</a:t>
            </a:r>
            <a:r>
              <a:rPr lang="ru-RU" sz="2400" dirty="0" smtClean="0"/>
              <a:t>=0.2 и с шагом 0.05  приближенное решение задачи Коши   </a:t>
            </a:r>
            <a:endParaRPr lang="en-US" sz="2400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 smtClean="0"/>
              <a:t>                                 </a:t>
            </a:r>
            <a:r>
              <a:rPr lang="ru-RU" sz="2400" dirty="0" smtClean="0"/>
              <a:t> </a:t>
            </a:r>
            <a:r>
              <a:rPr lang="ru-RU" sz="2400" i="1" dirty="0" smtClean="0"/>
              <a:t>y</a:t>
            </a:r>
            <a:r>
              <a:rPr lang="ru-RU" sz="2400" dirty="0" smtClean="0"/>
              <a:t>'=sin(</a:t>
            </a:r>
            <a:r>
              <a:rPr lang="ru-RU" sz="2400" i="1" dirty="0" smtClean="0"/>
              <a:t>x</a:t>
            </a:r>
            <a:r>
              <a:rPr lang="ru-RU" sz="2400" dirty="0" smtClean="0"/>
              <a:t>)-cos(</a:t>
            </a:r>
            <a:r>
              <a:rPr lang="ru-RU" sz="2400" i="1" dirty="0" smtClean="0"/>
              <a:t>y</a:t>
            </a:r>
            <a:r>
              <a:rPr lang="ru-RU" sz="2400" dirty="0" smtClean="0"/>
              <a:t>),   </a:t>
            </a:r>
            <a:r>
              <a:rPr lang="ru-RU" sz="2400" i="1" dirty="0" smtClean="0"/>
              <a:t>y</a:t>
            </a:r>
            <a:r>
              <a:rPr lang="ru-RU" sz="2400" dirty="0" smtClean="0"/>
              <a:t>(0)=1. </a:t>
            </a:r>
            <a:br>
              <a:rPr lang="ru-RU" sz="2400" dirty="0" smtClean="0"/>
            </a:br>
            <a:r>
              <a:rPr lang="ru-RU" sz="2400" dirty="0" smtClean="0"/>
              <a:t>Б) Найти  решение этой же задачи методом Рунге-Кутта 4 порядка c шагом </a:t>
            </a:r>
            <a:r>
              <a:rPr lang="ru-RU" sz="2400" i="1" dirty="0" smtClean="0"/>
              <a:t>h</a:t>
            </a:r>
            <a:r>
              <a:rPr lang="ru-RU" sz="2400" dirty="0" smtClean="0"/>
              <a:t>=0.2  и с шагом 0.05.  </a:t>
            </a:r>
          </a:p>
          <a:p>
            <a:pPr marL="0" indent="0">
              <a:buFont typeface="Arial" charset="0"/>
              <a:buNone/>
              <a:defRPr/>
            </a:pPr>
            <a:r>
              <a:rPr lang="ru-RU" sz="2400" dirty="0" smtClean="0"/>
              <a:t> Изобразить все приближенные </a:t>
            </a:r>
            <a:r>
              <a:rPr lang="ru-RU" sz="2400" smtClean="0"/>
              <a:t>решения на одном графике. </a:t>
            </a:r>
            <a:endParaRPr lang="ru-RU" sz="2400" dirty="0" smtClean="0"/>
          </a:p>
          <a:p>
            <a:pPr marL="0" indent="0">
              <a:buFont typeface="Arial" charset="0"/>
              <a:buNone/>
              <a:defRPr/>
            </a:pPr>
            <a:r>
              <a:rPr lang="ru-RU" sz="2400" dirty="0" smtClean="0"/>
              <a:t>Оценить погрешность в каждом случае по Рунге.</a:t>
            </a:r>
          </a:p>
          <a:p>
            <a:pPr marL="0" indent="0">
              <a:buFont typeface="Arial" charset="0"/>
              <a:buNone/>
              <a:defRPr/>
            </a:pPr>
            <a:endParaRPr lang="ru-RU" sz="2400" dirty="0"/>
          </a:p>
        </p:txBody>
      </p:sp>
      <p:pic>
        <p:nvPicPr>
          <p:cNvPr id="47107" name="Рисунок 2" descr="t_1_2.gif (1230 bytes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75" y="1571625"/>
            <a:ext cx="2714625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08" name="Рисунок 3" descr="t_1_1.gif (1274 bytes)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28875" y="2286000"/>
            <a:ext cx="3363913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11395</TotalTime>
  <Words>822</Words>
  <Application>Microsoft Office PowerPoint</Application>
  <PresentationFormat>Экран (4:3)</PresentationFormat>
  <Paragraphs>72</Paragraphs>
  <Slides>44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47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компоненты MATLAB</dc:title>
  <dc:creator>Admin</dc:creator>
  <cp:lastModifiedBy>Пользователь Windows</cp:lastModifiedBy>
  <cp:revision>1201</cp:revision>
  <dcterms:created xsi:type="dcterms:W3CDTF">2009-08-30T13:57:33Z</dcterms:created>
  <dcterms:modified xsi:type="dcterms:W3CDTF">2023-05-01T11:32:36Z</dcterms:modified>
</cp:coreProperties>
</file>